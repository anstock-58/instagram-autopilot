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in Modul 1. In den naechsten Folien starten wir mit dem Selbstcheck.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bin froh, dass du dir diese Zeit nimmst. Nicht als Floskel — sondern weil ich weiss, was es bedeutet, wenn jemand wie du anhaelt. Du bist vermutlich jemand, der viel erledigt. Der funktioniert. Der fuer andere da ist. Und genau deshalb bist du hier. In den naechsten fuenf Tagen schauen wir gemeinsam hin. Ehrlich. Ohne grosse Versprechen. Du wirst verstehen, warum du nie Nein sagen kannst — und du wirst deinen ersten echten Schritt raus machen.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moechte, dass du kurz anhaeltst. Denk an die letzte Woche. War da ein Moment, wo jemand etwas von dir wollte — und du hast Ja gesagt, obwohl du innerlich Nein gedacht hast? Nicht weil du keine Wahl hattest. Sondern weil Nein sich falsch angefuehlt hat. Zu hart. Zu egoistisch. Zu riskant. Wenn du gerade nickst — dann bist du hier genau richtig.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People-Pleasing sieht in jedem Bereich ein bisschen anders aus. Bei der Arbeit nimmst du Aufgaben an, die eigentlich nicht deine sind — weil du nicht als schwierig gelten willst. In der Familie erfuellst du Erwartungen, die niemand ausspricht — du spuerst sie einfach. Und bei Freunden bist du der Zuverlaessige. Der, der immer da ist. Auch wenn du selbst gerade leer bist. Erkennst du dich?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Workbook findest du auf Seite eins deinen Selbstcheck. Drei Bereiche, je drei Fragen. Ich bitte dich, sie zu beantworten — nicht so, wie es sich "gut" anhoert. Sondern so, wie es wirklich ist. Zehn Minuten. Das erste, was dir kommt. Kein Nachdenken. Kein Korrigieren. Nur Ehrlichkeit.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Morgen schauen wir, was dein Selbstcheck dir zeigt. Nicht um dich zu analysieren — sondern um ein Muster sichtbar zu machen. Die meisten Menschen, die nie Nein sagen, haben eine bestimmte Ausloese-Situation. Einen Moment, wo das automatische Ja einsetzt. Den finden wir morgen. Bis dann.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in Modul 2. Heute schauen wir gemeinsam auf deine Muster.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hoffe, du hast deinen Selbstcheck gemacht. Wenn ja — gut. Wenn nicht, mach es jetzt bevor du weiterschaust. Was du dort siehst, ist keine Schwaeche. Es ist ein Muster, das du irgendwann gelernt hast, weil es damals funktioniert hat. Und alles, was gelernt wurde, kann auch veraendert werden. Das ist keine Motivation — das ist Biologie.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Kennst du das? Jemand fragt etwas — und bevor du ueberhaupt nachgedacht hast, hoerst du dich selbst sagen: "Ja, kein Problem." Und im naechsten Moment denkst du: Warum hab ich das gerade gesagt? Das ist kein Versagen. Das ist ein Automatismus. Dein Gehirn hat diesen Weg so oft gegangen, dass er zur Standardreaktion geworden ist. Heute schauen wir, was diesen Automatismus ausloest.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 den meisten gibt es einen Typ Mensch oder eine Typ Situation, die das automatische Ja besonders stark ausloest. Fuer manche ist es der Chef. Fuer andere die Mutter. Oder jeder, der enttaeuscht wirkt. Im Workbook auf Seite zwei gibt es eine kurze Uebung dazu. Du wirst dabei wahrscheinlich eine Person oder Situation erkennen, die sich sofort meldet. Das ist dein Ausloser.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Wenn du deinen Ausloser erkennst — bitte nicht urteilen. Er zeigt dir, wo du dich am unsichersten fuehlst. Wo die Angst vor Ablehnung am staerksten ist. Das ist wertvolle Information. Keine Diagnose. Kein Problem. Einfach: hier ist der Hebel. Und morgen in Tag drei schauen wir, wo dieser Ausloser herkommt.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Dein Auftrag: Workbook Seite zwei, Ausloser-Uebung. Benenne eine Person oder Situation, bei der dein automatisches Ja besonders zuverlaessig funktioniert. Schreib es auf. Und dann bleib kurz dabei — ohne Erklaerung, ohne Rechtfertigung. Nur schauen. Morgen in Tag drei erklaere ich dir, warum das so ist. Und dann macht vieles auf einmal Sinn.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in Modul 3. Das ist der wichtigste Tag — wir gehen zur Wurzel.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Tag drei ist der Tag, auf den alles hingefuehrt hat. Wenn du heute verstehst, was ich dir zeige — dann klickt etwas. Ein echtes Verstehen, kein intellektuelles. Du wirst dich vielleicht wiedererkennen. In Situationen, die lange zurueckliegen. Und du wirst verstehen: das hatte einen Grund. Und dieser Grund gilt heute nicht mehr.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People-Pleasing entsteht nicht aus Schwaeche. Es entsteht aus Intelligenz. Irgendwann — meistens als Kind oder Jugendlicher — hast du gelernt: Wenn ich angepasst bin, bin ich sicher. Wenn ich Ja sage, wird es niemanden boese. Wenn ich keine Beduerfnisse habe, gibt es keinen Konflikt. Das war damals eine kluge Strategie. Das Problem: du folgst ihr heute noch. Obwohl die Situation sich laengst veraendert 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Hinter dem automatischen Ja steckt fast immer ein Glaubenssatz. Ein innerer Satz, den du so oft gedacht hast, dass er sich wie Wahrheit anfuehlt. Ich darf keine Last sein. Konflikte zerstoeren alles. Wenn ich Nein sage, verliere ich die Person. Diese Saetze sind nicht wahr — aber sie fuehlen sich wahr an. Und solange sie im Verborgenen bleiben, steuern sie dich.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Workbook auf Seite drei gibt es eine Frage, die viele Leute beschaeftigt: Was befuerchtest du wirklich, wenn du Nein sagst? Nicht die vernuenftige Antwort. Die ehrliche. Ablehnung. Verlust. Dass jemand wuetend wird. Dass du als schwierig giltst. Schreib es auf. Ohne Filter. Das ist dein Glaubenssatz in Aktion — und er hat einen Namen verdient.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musst heute noch nichts aendern. Wirklich nicht. Verstehen ist der erste Schritt — und der groesste. Die meisten Menschen rennen durch ihr Leben und aendern Verhalten, ohne zu verstehen warum sie so handeln. Du machst das jetzt anders. Morgen in Tag vier schauen wir, was du mit diesem Verstaendnis anfangen kannst. Bis dann.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in Modul 4. Heute kommt der Wendepunkt.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Ich moechte heute mit einem wichtigen Satz beginnen: Du bist nicht dein Muster. Das People-Pleasing ist nicht deine Persoenlichkeit. Es ist etwas, das du irgendwann gelernt hast — als Schutz, als Strategie, als Ueberlebensmechanismus. Und genau deshalb kann es auch veraendert werden. Nicht durch Willenskraft. Durch Verstaendnis und kleine, konkrete Schritte.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Viele versuchen, ihr People-Pleasing zu bekaempfen. Sie zwingen sich zu Nein, fuehlen sich dabei schlecht, geben auf. Das funktioniert nicht. Was funktioniert: das Muster sehen, ohne es zu verurteilen. Sagen: Ich sehe, dass ich gerade automatisch Ja sagen will. Und dann — eine Pause. Einen Atemzug. Und dann entscheiden, was ich wirklich will. Das ist der Wendepunkt.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Zwischen dem Moment, wo jemand etwas von dir will, und deiner Reaktion liegt ein ganz kurzer Augenblick. Meistens ueberbrueckst du ihn sofort mit Ja. Heute ueben wir, diesen Moment auszudehnen. Nicht dramatisch. Nur: einen Atemzug nehmen. Kurz innehalten. Und fragen: Was will ich wirklich? Du musst das nicht perfekt koennen. Du musst es nur einmal spueren.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Dein Auftrag fuer heute: Such dir eine einzige Situation — klein, ueberschaubar — und mach bewusst die Pause. Jemand fragt dich etwas. Du nimmst einen Atemzug. Du fragst dich innerlich: Will ich das wirklich? Du musst heute nicht laut Nein sagen. Es reicht, wenn du es innerlich einmal wirklich pruefst. Das ist mehr als die meisten in Jahren schaffen.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Morgen ist Tag fuenf. Der letzte Tag. Und der konkreteste. Du wirst dein erstes echtes Nein formulieren — in deinen Worten, fuer deine Situation. Nicht aus Trotz. Nicht aus Erschoepfung. Aus Ueberzeugung. Du bist nach vier Tagen bereit dafuer. Bis morgen.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in Modul 5. Das ist der Tag deines ersten echten Nein.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Herzlich willkommen in Tag fuenf. Das ist der Tag, auf den alles hingearbeitet hat. Ich moechte, dass du eins weisst, bevor wir anfangen: Dein erstes echtes Nein wird sich wahrscheinlich nicht gut anfuehlen. Es wird vielleicht ungewohnt sein. Vielleicht ein bisschen unangenehm. Das ist normal. Es muss sich nicht gut anfuehlen. Es muss aufrichtig sein. Das ist der Unterschied.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Ein echtes Nein kommt nicht aus Erschoepfung. Nicht aus Wut. Nicht aus "ich kann nicht mehr." Es kommt aus dem Wissen: Das entspricht nicht dem, was ich will oder kann. Und das reicht. Ein echtes Nein ist ruhig. Es braucht keine lange Begruendung. Kein Entschuldigen. Kein Rechtfertigen. Nur Klarheit.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Workbook auf Seite vier findest du drei einfache Formulierungen fuer dein erstes Nein. Erstens: "Das passt gerade nicht fuer mich." Zweitens: "Ich kann das diesmal nicht uebernehmen." Drittens: "Dafuer bin ich nicht der Richtige." Such dir eine aus — oder passe sie an. Was zaehlt, ist nicht der perfekte Satz. Was zaehlt, ist dass du ihn sagst.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Bevor dieser Kurs endet, bitte ich dich um drei Minuten Reflexion. Im Workbook auf Seite fuenf gibt es drei Fragen: Was habe ich ueber mich gelernt? Was hat sich bereits veraendert, auch wenn es klein ist? Und was nehme ich als ersten Schritt mit in den Alltag? Schreib es auf. Nicht fuer mich — fuer dich.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hast fuenf Tage lang ehrlich hingeschaut. Du hast dein Muster erkannt, seine Wurzel verstanden und deinen ersten echten Schritt gemacht. Das ist nicht nichts — das ist der Anfang von etwas. Im Bonus-Tag morgen zeige ich dir, wie du das in deinen Alltag integrierst — so dass es bleibt. Und falls du tiefer gehen willst, zeige ich dir auch, was als naechstes moeglich ist.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im Bonus-Modul. Heute geht es um Integration im Alltag.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Willkommen im Bonus-Tag. Was du in den letzten fuenf Tagen gelernt hast, braucht jetzt Wiederholung. Einmal Nein sagen veraendert nichts dauerhaft. Aber zehnmal — zwanzigmal — immer wieder kleine, aufrichtige Nein sagen: Das veraendert ein Muster. Heute zeige ich dir, wie du das in deinen Alltag einbaust — ohne grossen Aufwand.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Die einfachste Regel, die du sofort anwenden kannst: Bevor du Ja sagst — drei Sekunden. Das ist alles. Kein Drama, kein Theater. Nur drei Sekunden Pause. In diesen drei Sekunden fragst du dich innerlich: Will ich das wirklich? Kann ich das wirklich? Und dann antwortest du. Manchmal wirst du Ja sagen — aus Ueberzeugung. Manchmal Nein. Aber es ist deine Entscheidung.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 Workbook findest du auf Seite sechs einen einfachen Wochen-Tracker. Jeden Tag eine Zeile: Habe ich heute mindestens einmal bewusst die Pause gemacht? Ja oder nein. Das ist alles. Kein Aufwand. Keine Perfektion. Nur ehrliche Beobachtung ueber vier Wochen. Du wirst dabei etwas sehen, das dich ueberrascht.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 wird Tage geben, wo du wieder automatisch Ja sagst. Wo du dich danach aergerst. Das ist normal. Das bedeutet nicht, dass du versagt hast — es bedeutet, dass das Muster noch aktiv ist. Was du dann tust: nicht urteilen. Beobachten. Was war die Situation? Was war der Ausloser? Und dann weiter. Kein Schritt zurueck ist ein Versagen — es ist Information.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Du hast in diesen fuenf Tagen mehr geschafft als die meisten in Jahren. Du weisst jetzt, warum du nie Nein sagen konntest. Du hast deinen ersten Schritt gemacht. Und du weisst, wie du weiteroebst. Wenn du tiefer gehen willst — die alten Praegungen wirklich aufloesen, deinen Selbstwert nachhaltig aufbauen und dauerhaft in deiner eigenen Kraft bleiben — dann ist "Grenzen leben" der naechste Schritt. Den Link dazu findest du direkt unter diesem Video. Danke, dass du dabei warst.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Modul 1</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Tag 1: Der Selbstcheck</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Willkommen</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Warum du hier bist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diese 5 Tage bringen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sich danach veraendert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Die eine Frage</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Wann hast du zuletzt Nein gesagt — und es wirklich so gemeint?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Drei Lebensbereiche</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Arbeit: Aufgaben uebernehmen, die niemand sonst will</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Familie: Erwartungen erfuellen, die niemand laut ausspricht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Freunde: Immer verfuegbar sein, auch wenn du leer bist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erster Auftrag</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Workbook Seite 1 oeffnen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Selbstcheck ehrlich ausfuellen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10 Minuten — nicht mehr</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1 — Tag 1: Der Selbstcheck</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1: Der Selbstcheck</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dich morgen erwartet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Tag 2: Wir lesen die Muster</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erkennst wann und warum du automatisch Ja sagst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Modul 2</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Tag 2: Die Muster</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dein Selbstcheck zeigt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Schwaeche — sondern ein erlerntes Muster</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Muster lassen sich erkennen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erkannt ist, kann veraendert werden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Das automatische Ja</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Es passiert in Millisekunden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Bevor du nachgedacht hast, hast du schon Ja gesagt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Das ist kein Versagen — das ist Automatismus</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persoenlicher Ausloser</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Bestimmte Personen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Bestimmte Situationen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Bestimmte Gefuehle kurz davor</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Ausloser sind keine Feinde</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Dein Ausloser zeigt dir, wo du dich am unsichersten fuehlst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Unsicherheit ist kein Fehler — sie ist Information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2 — Tag 2: Die Muster</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2: Die Muster</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Auftrag fuer heute</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Workbook Seite 2 — Ausloser-Uebung</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Eine Person oder Situation benennen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Dabei bleiben, nicht wegschauen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Modul 3</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Tag 3: Die Wurzel</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Heute ist der wichtigste Tag</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Nach heute verstehst du, warum du immer Ja sagst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als Kind — als Erwachsener</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Wo People-Pleasing entsteht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angeboren — erlernt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Meistens in der Kindheit oder Jugend</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Als Strategie, um geliebt oder sicher zu sein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Praegungen und Glaubenssaetze</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"Ich darf keine Last sein"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"Konflikte zerstoeren Beziehungen"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"Wenn ich Nein sage, verliere ich die Zuneigung"</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Glaubenssatz</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befuerchtest du, wenn du Nein sagst?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was du denkst — was du wirklich befuerchtest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3 — Tag 3: Die Wurzel</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3: Die Wurzel</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Verstehen ist der erste Schritt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musst noch nichts aendern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Verstehen reicht fuer heute</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Morgen kommt der naechste Schritt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Modul 4</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Tag 4: Der Wendepunkt</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Du bist nicht dein Muster</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Das Muster ist nicht du</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Es ist etwas, das du gelernt hast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Es kann veraendert werden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Akzeptanz statt Kampf</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Gegen das Muster kaempfen macht es staerker</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Akzeptieren heisst: ich sehe es — und ich entscheide neu</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Kein Selbstvorwurf</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Die Pause als Werkzeug</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Zwischen Ausloser und Reaktion liegt ein Moment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In diesem Moment liegt deine Freiheit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Die Pause trainieren — nicht perfektionieren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Deine erste kleine Uebung</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Heute eine einzige Situation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Pause machen — innerlich Nein pruefen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zwingend laut aussprechen muessen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4 — Tag 4: Der Wendepunkt</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4: Der Wendepunkt</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Morgen sagst du es laut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Tag 5: Das erste echte Nein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bist bereit — nicht perfekt, aber bereit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Modul 5</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Tag 5: Das erste echte Nein</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Das ist der Tag</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Nicht perfekt — echt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Dein Nein muss sich nicht gut anfuehlen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Es muss aufrichtig sein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ein echtes Nein ist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Aus Ueberzeugung — nicht aus Erschoepfung</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Ruhig — nicht aggressiv</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Klar — ohne lange Erklaerung</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Nein in Worten</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Drei einfache Formulierungen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Waehle, was sich fuer dich richtig anfuehlt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kannst es anpassen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Abschluss-Reflexion</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hast du in diesen 5 Tagen gelernt?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hat sich veraendert?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Was nimmst du mit?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Modul 5 — Tag 5: Das erste echte Nein</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Tag 5: Das erste echte Nein</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jetzt kommt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Bonus-Tag: Integration im Alltag</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Der naechste Schritt, wenn du tiefer gehen willst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1E1E1E"/>
        </a:solidFill>
      </p:bgPr>
    </p:bg>
    <p:spTree>
      <p:nvGrpSpPr>
        <p:cNvPr id="1" name=""/>
        <p:cNvGrpSpPr/>
        <p:nvPr/>
      </p:nvGrpSpPr>
      <p:grpSpPr>
        <a:xfrm>
          <a:off x="0" y="0"/>
          <a:ext cx="0" cy="0"/>
          <a:chOff x="0" y="0"/>
          <a:chExt cx="0" cy="0"/>
        </a:xfrm>
      </p:grpSpPr>
      <p:sp>
        <p:nvSpPr>
          <p:cNvPr id="2" name="Shape 0"/>
          <p:cNvSpPr/>
          <p:nvPr/>
        </p:nvSpPr>
        <p:spPr>
          <a:xfrm>
            <a:off x="0" y="0"/>
            <a:ext cx="457200" cy="6858000"/>
          </a:xfrm>
          <a:prstGeom prst="rect">
            <a:avLst/>
          </a:prstGeom>
          <a:solidFill>
            <a:srgbClr val="A61C1C"/>
          </a:solidFill>
          <a:ln w="12700">
            <a:solidFill>
              <a:srgbClr val="A61C1C"/>
            </a:solidFill>
            <a:prstDash val="solid"/>
          </a:ln>
        </p:spPr>
      </p:sp>
      <p:sp>
        <p:nvSpPr>
          <p:cNvPr id="3" name="Shape 1"/>
          <p:cNvSpPr/>
          <p:nvPr/>
        </p:nvSpPr>
        <p:spPr>
          <a:xfrm>
            <a:off x="11731752" y="0"/>
            <a:ext cx="457200" cy="6858000"/>
          </a:xfrm>
          <a:prstGeom prst="rect">
            <a:avLst/>
          </a:prstGeom>
          <a:solidFill>
            <a:srgbClr val="2A2A2A"/>
          </a:solidFill>
          <a:ln w="12700">
            <a:solidFill>
              <a:srgbClr val="2A2A2A"/>
            </a:solidFill>
            <a:prstDash val="solid"/>
          </a:ln>
        </p:spPr>
      </p:sp>
      <p:sp>
        <p:nvSpPr>
          <p:cNvPr id="4" name="Text 2"/>
          <p:cNvSpPr/>
          <p:nvPr/>
        </p:nvSpPr>
        <p:spPr>
          <a:xfrm>
            <a:off x="731520" y="2011680"/>
            <a:ext cx="5486400" cy="548640"/>
          </a:xfrm>
          <a:prstGeom prst="rect">
            <a:avLst/>
          </a:prstGeom>
          <a:noFill/>
          <a:ln/>
        </p:spPr>
        <p:txBody>
          <a:bodyPr wrap="square" rtlCol="0" anchor="ctr"/>
          <a:lstStyle/>
          <a:p>
            <a:pPr indent="0" marL="0">
              <a:buNone/>
            </a:pPr>
            <a:r>
              <a:rPr lang="en-US" sz="1400" b="1" spc="300" kern="0" dirty="0">
                <a:solidFill>
                  <a:srgbClr val="D94040"/>
                </a:solidFill>
                <a:latin typeface="Calibri" pitchFamily="34" charset="0"/>
                <a:ea typeface="Calibri" pitchFamily="34" charset="-122"/>
                <a:cs typeface="Calibri" pitchFamily="34" charset="-120"/>
              </a:rPr>
              <a:t>Bonus</a:t>
            </a:r>
            <a:endParaRPr lang="en-US" sz="1400" dirty="0"/>
          </a:p>
        </p:txBody>
      </p:sp>
      <p:sp>
        <p:nvSpPr>
          <p:cNvPr id="5" name="Text 3"/>
          <p:cNvSpPr/>
          <p:nvPr/>
        </p:nvSpPr>
        <p:spPr>
          <a:xfrm>
            <a:off x="731520" y="2651760"/>
            <a:ext cx="9144000" cy="1371600"/>
          </a:xfrm>
          <a:prstGeom prst="rect">
            <a:avLst/>
          </a:prstGeom>
          <a:noFill/>
          <a:ln/>
        </p:spPr>
        <p:txBody>
          <a:bodyPr wrap="square" rtlCol="0" anchor="ctr"/>
          <a:lstStyle/>
          <a:p>
            <a:pPr indent="0" marL="0">
              <a:buNone/>
            </a:pPr>
            <a:r>
              <a:rPr lang="en-US" sz="3600" b="1" dirty="0">
                <a:solidFill>
                  <a:srgbClr val="FFFFFF"/>
                </a:solidFill>
                <a:latin typeface="Calibri" pitchFamily="34" charset="0"/>
                <a:ea typeface="Calibri" pitchFamily="34" charset="-122"/>
                <a:cs typeface="Calibri" pitchFamily="34" charset="-120"/>
              </a:rPr>
              <a:t>Bonus: Integration im Alltag</a:t>
            </a:r>
            <a:endParaRPr lang="en-US" sz="3600" dirty="0"/>
          </a:p>
        </p:txBody>
      </p:sp>
      <p:sp>
        <p:nvSpPr>
          <p:cNvPr id="6" name="Text 4"/>
          <p:cNvSpPr/>
          <p:nvPr/>
        </p:nvSpPr>
        <p:spPr>
          <a:xfrm>
            <a:off x="731520" y="6217920"/>
            <a:ext cx="7315200" cy="45720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Nein aus Ueberzeugung</a:t>
            </a:r>
            <a:endParaRPr lang="en-US" sz="11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Einmal ist kein Mal</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Ein Nein veraendert nichts dauerhaft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Wiederholung schafft neue Muster</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Kleine Schritte, konsequent</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Die Drei-Sekunden-Regel</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Bevor du Ja sagst: drei Sekunden Pause</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Innerlich fragen: Will ich das wirklich?</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Dann erst antworten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Dein Wochenplan</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Montag bis Freitag: eine bewusste Pause pro Tag</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Wochenende: Reflexion — wie war die Woche?</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Workbook Seite 6: Wochen-Tracker</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Was tun, wenn es nicht klappt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Rueckschritte sind normal — kein Grund zur Selbstkritik</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Ein Rueckschritt zeigt: das Thema ist noch aktiv</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Beobachten statt urteilen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4F4F4"/>
        </a:solidFill>
      </p:bgPr>
    </p:bg>
    <p:spTree>
      <p:nvGrpSpPr>
        <p:cNvPr id="1" name=""/>
        <p:cNvGrpSpPr/>
        <p:nvPr/>
      </p:nvGrpSpPr>
      <p:grpSpPr>
        <a:xfrm>
          <a:off x="0" y="0"/>
          <a:ext cx="0" cy="0"/>
          <a:chOff x="0" y="0"/>
          <a:chExt cx="0" cy="0"/>
        </a:xfrm>
      </p:grpSpPr>
      <p:sp>
        <p:nvSpPr>
          <p:cNvPr id="2" name="Shape 0"/>
          <p:cNvSpPr/>
          <p:nvPr/>
        </p:nvSpPr>
        <p:spPr>
          <a:xfrm>
            <a:off x="0" y="0"/>
            <a:ext cx="201168" cy="6858000"/>
          </a:xfrm>
          <a:prstGeom prst="rect">
            <a:avLst/>
          </a:prstGeom>
          <a:solidFill>
            <a:srgbClr val="A61C1C"/>
          </a:solidFill>
          <a:ln w="12700">
            <a:solidFill>
              <a:srgbClr val="A61C1C"/>
            </a:solidFill>
            <a:prstDash val="solid"/>
          </a:ln>
        </p:spPr>
      </p:sp>
      <p:sp>
        <p:nvSpPr>
          <p:cNvPr id="3" name="Shape 1"/>
          <p:cNvSpPr/>
          <p:nvPr/>
        </p:nvSpPr>
        <p:spPr>
          <a:xfrm>
            <a:off x="9692640" y="5349240"/>
            <a:ext cx="2496312" cy="1508760"/>
          </a:xfrm>
          <a:prstGeom prst="rect">
            <a:avLst/>
          </a:prstGeom>
          <a:solidFill>
            <a:srgbClr val="1E1E1E"/>
          </a:solidFill>
          <a:ln w="12700">
            <a:solidFill>
              <a:srgbClr val="1E1E1E"/>
            </a:solidFill>
            <a:prstDash val="solid"/>
          </a:ln>
        </p:spPr>
      </p:sp>
      <p:sp>
        <p:nvSpPr>
          <p:cNvPr id="4" name="Shape 2"/>
          <p:cNvSpPr/>
          <p:nvPr/>
        </p:nvSpPr>
        <p:spPr>
          <a:xfrm>
            <a:off x="10149840" y="5440680"/>
            <a:ext cx="1581912" cy="1325880"/>
          </a:xfrm>
          <a:prstGeom prst="ellipse">
            <a:avLst/>
          </a:prstGeom>
          <a:solidFill>
            <a:srgbClr val="2A2A2A"/>
          </a:solidFill>
          <a:ln w="12700">
            <a:solidFill>
              <a:srgbClr val="D94040"/>
            </a:solidFill>
            <a:prstDash val="solid"/>
          </a:ln>
        </p:spPr>
      </p:sp>
      <p:sp>
        <p:nvSpPr>
          <p:cNvPr id="5" name="Text 3"/>
          <p:cNvSpPr/>
          <p:nvPr/>
        </p:nvSpPr>
        <p:spPr>
          <a:xfrm>
            <a:off x="320040" y="164592"/>
            <a:ext cx="4572000" cy="347472"/>
          </a:xfrm>
          <a:prstGeom prst="rect">
            <a:avLst/>
          </a:prstGeom>
          <a:noFill/>
          <a:ln/>
        </p:spPr>
        <p:txBody>
          <a:bodyPr wrap="square" rtlCol="0" anchor="ctr"/>
          <a:lstStyle/>
          <a:p>
            <a:pPr indent="0" marL="0">
              <a:buNone/>
            </a:pPr>
            <a:r>
              <a:rPr lang="en-US" sz="1200" b="1" dirty="0">
                <a:solidFill>
                  <a:srgbClr val="A61C1C"/>
                </a:solidFill>
                <a:latin typeface="Calibri" pitchFamily="34" charset="0"/>
                <a:ea typeface="Calibri" pitchFamily="34" charset="-122"/>
                <a:cs typeface="Calibri" pitchFamily="34" charset="-120"/>
              </a:rPr>
              <a:t>Bonus — Bonus: Integration im Alltag</a:t>
            </a:r>
            <a:endParaRPr lang="en-US" sz="1200" dirty="0"/>
          </a:p>
        </p:txBody>
      </p:sp>
      <p:sp>
        <p:nvSpPr>
          <p:cNvPr id="6" name="Text 4"/>
          <p:cNvSpPr/>
          <p:nvPr/>
        </p:nvSpPr>
        <p:spPr>
          <a:xfrm>
            <a:off x="320040" y="475488"/>
            <a:ext cx="8686800" cy="320040"/>
          </a:xfrm>
          <a:prstGeom prst="rect">
            <a:avLst/>
          </a:prstGeom>
          <a:noFill/>
          <a:ln/>
        </p:spPr>
        <p:txBody>
          <a:bodyPr wrap="square" rtlCol="0" anchor="ctr"/>
          <a:lstStyle/>
          <a:p>
            <a:pPr indent="0" marL="0">
              <a:buNone/>
            </a:pPr>
            <a:r>
              <a:rPr lang="en-US" sz="1100" i="1" dirty="0">
                <a:solidFill>
                  <a:srgbClr val="888888"/>
                </a:solidFill>
                <a:latin typeface="Calibri" pitchFamily="34" charset="0"/>
                <a:ea typeface="Calibri" pitchFamily="34" charset="-122"/>
                <a:cs typeface="Calibri" pitchFamily="34" charset="-120"/>
              </a:rPr>
              <a:t>Bonus: Integration im Alltag</a:t>
            </a:r>
            <a:endParaRPr lang="en-US" sz="1100" dirty="0"/>
          </a:p>
        </p:txBody>
      </p:sp>
      <p:sp>
        <p:nvSpPr>
          <p:cNvPr id="7" name="Shape 5"/>
          <p:cNvSpPr/>
          <p:nvPr/>
        </p:nvSpPr>
        <p:spPr>
          <a:xfrm>
            <a:off x="320040" y="841248"/>
            <a:ext cx="8961120" cy="0"/>
          </a:xfrm>
          <a:prstGeom prst="line">
            <a:avLst/>
          </a:prstGeom>
          <a:noFill/>
          <a:ln w="12700">
            <a:solidFill>
              <a:srgbClr val="CCCCCC"/>
            </a:solidFill>
            <a:prstDash val="solid"/>
          </a:ln>
        </p:spPr>
      </p:sp>
      <p:sp>
        <p:nvSpPr>
          <p:cNvPr id="8" name="Text 6"/>
          <p:cNvSpPr/>
          <p:nvPr/>
        </p:nvSpPr>
        <p:spPr>
          <a:xfrm>
            <a:off x="320040" y="960120"/>
            <a:ext cx="9144000" cy="1005840"/>
          </a:xfrm>
          <a:prstGeom prst="rect">
            <a:avLst/>
          </a:prstGeom>
          <a:noFill/>
          <a:ln/>
        </p:spPr>
        <p:txBody>
          <a:bodyPr wrap="square" rtlCol="0" anchor="ctr"/>
          <a:lstStyle/>
          <a:p>
            <a:pPr indent="0" marL="0">
              <a:buNone/>
            </a:pPr>
            <a:r>
              <a:rPr lang="en-US" sz="3800" b="1" dirty="0">
                <a:solidFill>
                  <a:srgbClr val="1E1E1E"/>
                </a:solidFill>
                <a:latin typeface="Calibri" pitchFamily="34" charset="0"/>
                <a:ea typeface="Calibri" pitchFamily="34" charset="-122"/>
                <a:cs typeface="Calibri" pitchFamily="34" charset="-120"/>
              </a:rPr>
              <a:t>Der naechste Schritt</a:t>
            </a:r>
            <a:endParaRPr lang="en-US" sz="3800" dirty="0"/>
          </a:p>
        </p:txBody>
      </p:sp>
      <p:sp>
        <p:nvSpPr>
          <p:cNvPr id="9" name="Text 7"/>
          <p:cNvSpPr/>
          <p:nvPr/>
        </p:nvSpPr>
        <p:spPr>
          <a:xfrm>
            <a:off x="320040" y="2148840"/>
            <a:ext cx="9326880" cy="3017520"/>
          </a:xfrm>
          <a:prstGeom prst="rect">
            <a:avLst/>
          </a:prstGeom>
          <a:noFill/>
          <a:ln/>
        </p:spPr>
        <p:txBody>
          <a:bodyPr wrap="square" rtlCol="0" anchor="t"/>
          <a:lstStyle/>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Du hast den Anfang gemacht</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Wer tiefer gehen will: GRENZEN LEBEN</a:t>
            </a:r>
            <a:endParaRPr lang="en-US" sz="2400" dirty="0"/>
          </a:p>
          <a:p>
            <a:pPr marL="342900" indent="-342900">
              <a:spcBef>
                <a:spcPts val="1200"/>
              </a:spcBef>
              <a:buSzPct val="100000"/>
              <a:buChar char="■"/>
            </a:pPr>
            <a:r>
              <a:rPr lang="en-US" sz="2400" dirty="0">
                <a:solidFill>
                  <a:srgbClr val="4A4A4A"/>
                </a:solidFill>
                <a:latin typeface="Calibri" pitchFamily="34" charset="0"/>
                <a:ea typeface="Calibri" pitchFamily="34" charset="-122"/>
                <a:cs typeface="Calibri" pitchFamily="34" charset="-120"/>
              </a:rPr>
              <a:t>Selbstwert aufbauen, Praegungen aufloesen, dauerhaft in der eigenen Kraft bleiben</a:t>
            </a:r>
            <a:endParaRPr lang="en-US" sz="2400" dirty="0"/>
          </a:p>
        </p:txBody>
      </p:sp>
      <p:sp>
        <p:nvSpPr>
          <p:cNvPr id="10" name="Text 8"/>
          <p:cNvSpPr/>
          <p:nvPr/>
        </p:nvSpPr>
        <p:spPr>
          <a:xfrm>
            <a:off x="320040" y="6492240"/>
            <a:ext cx="4572000" cy="274320"/>
          </a:xfrm>
          <a:prstGeom prst="rect">
            <a:avLst/>
          </a:prstGeom>
          <a:noFill/>
          <a:ln/>
        </p:spPr>
        <p:txBody>
          <a:bodyPr wrap="square" rtlCol="0" anchor="ctr"/>
          <a:lstStyle/>
          <a:p>
            <a:pPr indent="0" marL="0">
              <a:buNone/>
            </a:pPr>
            <a:r>
              <a:rPr lang="en-US" sz="800" dirty="0">
                <a:solidFill>
                  <a:srgbClr val="BBBBBB"/>
                </a:solidFill>
                <a:latin typeface="Calibri" pitchFamily="34" charset="0"/>
                <a:ea typeface="Calibri" pitchFamily="34" charset="-122"/>
                <a:cs typeface="Calibri" pitchFamily="34" charset="-120"/>
              </a:rPr>
              <a:t>Nein aus Ueberzeugung</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Nein aus Ueberzeugung — Kurs</dc:title>
  <dc:subject>PptxGenJS Presentation</dc:subject>
  <dc:creator>Andreas Stock</dc:creator>
  <cp:lastModifiedBy>Andreas Stock</cp:lastModifiedBy>
  <cp:revision>1</cp:revision>
  <dcterms:created xsi:type="dcterms:W3CDTF">2026-05-22T18:41:30Z</dcterms:created>
  <dcterms:modified xsi:type="dcterms:W3CDTF">2026-05-22T18:41:30Z</dcterms:modified>
</cp:coreProperties>
</file>