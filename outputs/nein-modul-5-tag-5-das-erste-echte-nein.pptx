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Willkommen in Modul 5. Das ist der Tag deines ersten echten Nein.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Herzlich willkommen in Tag fuenf. Das ist der Tag, auf den alles hingearbeitet hat. Ich moechte, dass du eins weisst, bevor wir anfangen: Dein erstes echtes Nein wird sich wahrscheinlich nicht gut anfuehlen. Es wird vielleicht ungewohnt sein. Vielleicht ein bisschen unangenehm. Das ist normal. Es muss sich nicht gut anfuehlen. Es muss aufrichtig sein. Das ist der Unterschied.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Ein echtes Nein kommt nicht aus Erschoepfung. Nicht aus Wut. Nicht aus "ich kann nicht mehr." Es kommt aus dem Wissen: Das entspricht nicht dem, was ich will oder kann. Und das reicht. Ein echtes Nein ist ruhig. Es braucht keine lange Begruendung. Kein Entschuldigen. Kein Rechtfertigen. Nur Klarheit.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 Workbook auf Seite vier findest du drei einfache Formulierungen fuer dein erstes Nein. Erstens: "Das passt gerade nicht fuer mich." Zweitens: "Ich kann das diesmal nicht uebernehmen." Drittens: "Dafuer bin ich nicht der Richtige." Such dir eine aus — oder passe sie an. Was zaehlt, ist nicht der perfekte Satz. Was zaehlt, ist dass du ihn sagst.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Bevor dieser Kurs endet, bitte ich dich um drei Minuten Reflexion. Im Workbook auf Seite fuenf gibt es drei Fragen: Was habe ich ueber mich gelernt? Was hat sich bereits veraendert, auch wenn es klein ist? Und was nehme ich als ersten Schritt mit in den Alltag? Schreib es auf. Nicht fuer mich — fuer dich.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 hast fuenf Tage lang ehrlich hingeschaut. Du hast dein Muster erkannt, seine Wurzel verstanden und deinen ersten echten Schritt gemacht. Das ist nicht nichts — das ist der Anfang von etwas. Im Bonus-Tag morgen zeige ich dir, wie du das in deinen Alltag integrierst — so dass es bleibt. Und falls du tiefer gehen willst, zeige ich dir auch, was als naechstes moeglich 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1E1E"/>
        </a:solidFill>
      </p:bgPr>
    </p:bg>
    <p:spTree>
      <p:nvGrpSpPr>
        <p:cNvPr id="1" name=""/>
        <p:cNvGrpSpPr/>
        <p:nvPr/>
      </p:nvGrpSpPr>
      <p:grpSpPr>
        <a:xfrm>
          <a:off x="0" y="0"/>
          <a:ext cx="0" cy="0"/>
          <a:chOff x="0" y="0"/>
          <a:chExt cx="0" cy="0"/>
        </a:xfrm>
      </p:grpSpPr>
      <p:sp>
        <p:nvSpPr>
          <p:cNvPr id="2" name="Shape 0"/>
          <p:cNvSpPr/>
          <p:nvPr/>
        </p:nvSpPr>
        <p:spPr>
          <a:xfrm>
            <a:off x="0" y="0"/>
            <a:ext cx="457200" cy="6858000"/>
          </a:xfrm>
          <a:prstGeom prst="rect">
            <a:avLst/>
          </a:prstGeom>
          <a:solidFill>
            <a:srgbClr val="A61C1C"/>
          </a:solidFill>
          <a:ln w="12700">
            <a:solidFill>
              <a:srgbClr val="A61C1C"/>
            </a:solidFill>
            <a:prstDash val="solid"/>
          </a:ln>
        </p:spPr>
      </p:sp>
      <p:sp>
        <p:nvSpPr>
          <p:cNvPr id="3" name="Shape 1"/>
          <p:cNvSpPr/>
          <p:nvPr/>
        </p:nvSpPr>
        <p:spPr>
          <a:xfrm>
            <a:off x="11731752" y="0"/>
            <a:ext cx="457200" cy="6858000"/>
          </a:xfrm>
          <a:prstGeom prst="rect">
            <a:avLst/>
          </a:prstGeom>
          <a:solidFill>
            <a:srgbClr val="2A2A2A"/>
          </a:solidFill>
          <a:ln w="12700">
            <a:solidFill>
              <a:srgbClr val="2A2A2A"/>
            </a:solidFill>
            <a:prstDash val="solid"/>
          </a:ln>
        </p:spPr>
      </p:sp>
      <p:sp>
        <p:nvSpPr>
          <p:cNvPr id="4" name="Text 2"/>
          <p:cNvSpPr/>
          <p:nvPr/>
        </p:nvSpPr>
        <p:spPr>
          <a:xfrm>
            <a:off x="731520" y="2011680"/>
            <a:ext cx="5486400" cy="548640"/>
          </a:xfrm>
          <a:prstGeom prst="rect">
            <a:avLst/>
          </a:prstGeom>
          <a:noFill/>
          <a:ln/>
        </p:spPr>
        <p:txBody>
          <a:bodyPr wrap="square" rtlCol="0" anchor="ctr"/>
          <a:lstStyle/>
          <a:p>
            <a:pPr indent="0" marL="0">
              <a:buNone/>
            </a:pPr>
            <a:r>
              <a:rPr lang="en-US" sz="1400" b="1" spc="300" kern="0" dirty="0">
                <a:solidFill>
                  <a:srgbClr val="D94040"/>
                </a:solidFill>
                <a:latin typeface="Calibri" pitchFamily="34" charset="0"/>
                <a:ea typeface="Calibri" pitchFamily="34" charset="-122"/>
                <a:cs typeface="Calibri" pitchFamily="34" charset="-120"/>
              </a:rPr>
              <a:t>Modul 5</a:t>
            </a:r>
            <a:endParaRPr lang="en-US" sz="1400" dirty="0"/>
          </a:p>
        </p:txBody>
      </p:sp>
      <p:sp>
        <p:nvSpPr>
          <p:cNvPr id="5" name="Text 3"/>
          <p:cNvSpPr/>
          <p:nvPr/>
        </p:nvSpPr>
        <p:spPr>
          <a:xfrm>
            <a:off x="731520" y="2651760"/>
            <a:ext cx="9144000" cy="1371600"/>
          </a:xfrm>
          <a:prstGeom prst="rect">
            <a:avLst/>
          </a:prstGeom>
          <a:noFill/>
          <a:ln/>
        </p:spPr>
        <p:txBody>
          <a:bodyPr wrap="square"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Tag 5: Das erste echte Nein</a:t>
            </a:r>
            <a:endParaRPr lang="en-US" sz="3600" dirty="0"/>
          </a:p>
        </p:txBody>
      </p:sp>
      <p:sp>
        <p:nvSpPr>
          <p:cNvPr id="6" name="Text 4"/>
          <p:cNvSpPr/>
          <p:nvPr/>
        </p:nvSpPr>
        <p:spPr>
          <a:xfrm>
            <a:off x="731520" y="6217920"/>
            <a:ext cx="7315200" cy="457200"/>
          </a:xfrm>
          <a:prstGeom prst="rect">
            <a:avLst/>
          </a:prstGeom>
          <a:noFill/>
          <a:ln/>
        </p:spPr>
        <p:txBody>
          <a:bodyPr wrap="square" rtlCol="0" anchor="ctr"/>
          <a:lstStyle/>
          <a:p>
            <a:pPr indent="0" marL="0">
              <a:buNone/>
            </a:pPr>
            <a:r>
              <a:rPr lang="en-US" sz="1100" i="1" dirty="0">
                <a:solidFill>
                  <a:srgbClr val="888888"/>
                </a:solidFill>
                <a:latin typeface="Calibri" pitchFamily="34" charset="0"/>
                <a:ea typeface="Calibri" pitchFamily="34" charset="-122"/>
                <a:cs typeface="Calibri" pitchFamily="34" charset="-120"/>
              </a:rPr>
              <a:t>Nein aus Ueberzeugung</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4F4"/>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A61C1C"/>
          </a:solidFill>
          <a:ln w="12700">
            <a:solidFill>
              <a:srgbClr val="A61C1C"/>
            </a:solidFill>
            <a:prstDash val="solid"/>
          </a:ln>
        </p:spPr>
      </p:sp>
      <p:sp>
        <p:nvSpPr>
          <p:cNvPr id="3" name="Shape 1"/>
          <p:cNvSpPr/>
          <p:nvPr/>
        </p:nvSpPr>
        <p:spPr>
          <a:xfrm>
            <a:off x="9692640" y="5349240"/>
            <a:ext cx="2496312" cy="1508760"/>
          </a:xfrm>
          <a:prstGeom prst="rect">
            <a:avLst/>
          </a:prstGeom>
          <a:solidFill>
            <a:srgbClr val="1E1E1E"/>
          </a:solidFill>
          <a:ln w="12700">
            <a:solidFill>
              <a:srgbClr val="1E1E1E"/>
            </a:solidFill>
            <a:prstDash val="solid"/>
          </a:ln>
        </p:spPr>
      </p:sp>
      <p:sp>
        <p:nvSpPr>
          <p:cNvPr id="4" name="Shape 2"/>
          <p:cNvSpPr/>
          <p:nvPr/>
        </p:nvSpPr>
        <p:spPr>
          <a:xfrm>
            <a:off x="10149840" y="5440680"/>
            <a:ext cx="1581912" cy="1325880"/>
          </a:xfrm>
          <a:prstGeom prst="ellipse">
            <a:avLst/>
          </a:prstGeom>
          <a:solidFill>
            <a:srgbClr val="2A2A2A"/>
          </a:solidFill>
          <a:ln w="12700">
            <a:solidFill>
              <a:srgbClr val="D94040"/>
            </a:solidFill>
            <a:prstDash val="solid"/>
          </a:ln>
        </p:spPr>
      </p:sp>
      <p:sp>
        <p:nvSpPr>
          <p:cNvPr id="5" name="Text 3"/>
          <p:cNvSpPr/>
          <p:nvPr/>
        </p:nvSpPr>
        <p:spPr>
          <a:xfrm>
            <a:off x="320040" y="164592"/>
            <a:ext cx="4572000" cy="347472"/>
          </a:xfrm>
          <a:prstGeom prst="rect">
            <a:avLst/>
          </a:prstGeom>
          <a:noFill/>
          <a:ln/>
        </p:spPr>
        <p:txBody>
          <a:bodyPr wrap="square" rtlCol="0" anchor="ctr"/>
          <a:lstStyle/>
          <a:p>
            <a:pPr indent="0" marL="0">
              <a:buNone/>
            </a:pPr>
            <a:r>
              <a:rPr lang="en-US" sz="1200" b="1" dirty="0">
                <a:solidFill>
                  <a:srgbClr val="A61C1C"/>
                </a:solidFill>
                <a:latin typeface="Calibri" pitchFamily="34" charset="0"/>
                <a:ea typeface="Calibri" pitchFamily="34" charset="-122"/>
                <a:cs typeface="Calibri" pitchFamily="34" charset="-120"/>
              </a:rPr>
              <a:t>Modul 5 — Tag 5: Das erste echte Nein</a:t>
            </a:r>
            <a:endParaRPr lang="en-US" sz="1200" dirty="0"/>
          </a:p>
        </p:txBody>
      </p:sp>
      <p:sp>
        <p:nvSpPr>
          <p:cNvPr id="6" name="Text 4"/>
          <p:cNvSpPr/>
          <p:nvPr/>
        </p:nvSpPr>
        <p:spPr>
          <a:xfrm>
            <a:off x="320040" y="475488"/>
            <a:ext cx="8686800" cy="320040"/>
          </a:xfrm>
          <a:prstGeom prst="rect">
            <a:avLst/>
          </a:prstGeom>
          <a:noFill/>
          <a:ln/>
        </p:spPr>
        <p:txBody>
          <a:bodyPr wrap="square" rtlCol="0" anchor="ctr"/>
          <a:lstStyle/>
          <a:p>
            <a:pPr indent="0" marL="0">
              <a:buNone/>
            </a:pPr>
            <a:r>
              <a:rPr lang="en-US" sz="1100" i="1" dirty="0">
                <a:solidFill>
                  <a:srgbClr val="888888"/>
                </a:solidFill>
                <a:latin typeface="Calibri" pitchFamily="34" charset="0"/>
                <a:ea typeface="Calibri" pitchFamily="34" charset="-122"/>
                <a:cs typeface="Calibri" pitchFamily="34" charset="-120"/>
              </a:rPr>
              <a:t>Tag 5: Das erste echte Nein</a:t>
            </a:r>
            <a:endParaRPr lang="en-US" sz="1100" dirty="0"/>
          </a:p>
        </p:txBody>
      </p:sp>
      <p:sp>
        <p:nvSpPr>
          <p:cNvPr id="7" name="Shape 5"/>
          <p:cNvSpPr/>
          <p:nvPr/>
        </p:nvSpPr>
        <p:spPr>
          <a:xfrm>
            <a:off x="320040" y="841248"/>
            <a:ext cx="8961120" cy="0"/>
          </a:xfrm>
          <a:prstGeom prst="line">
            <a:avLst/>
          </a:prstGeom>
          <a:noFill/>
          <a:ln w="12700">
            <a:solidFill>
              <a:srgbClr val="CCCCCC"/>
            </a:solidFill>
            <a:prstDash val="solid"/>
          </a:ln>
        </p:spPr>
      </p:sp>
      <p:sp>
        <p:nvSpPr>
          <p:cNvPr id="8" name="Text 6"/>
          <p:cNvSpPr/>
          <p:nvPr/>
        </p:nvSpPr>
        <p:spPr>
          <a:xfrm>
            <a:off x="320040" y="960120"/>
            <a:ext cx="9144000" cy="1005840"/>
          </a:xfrm>
          <a:prstGeom prst="rect">
            <a:avLst/>
          </a:prstGeom>
          <a:noFill/>
          <a:ln/>
        </p:spPr>
        <p:txBody>
          <a:bodyPr wrap="square" rtlCol="0" anchor="ctr"/>
          <a:lstStyle/>
          <a:p>
            <a:pPr indent="0" marL="0">
              <a:buNone/>
            </a:pPr>
            <a:r>
              <a:rPr lang="en-US" sz="3800" b="1" dirty="0">
                <a:solidFill>
                  <a:srgbClr val="1E1E1E"/>
                </a:solidFill>
                <a:latin typeface="Calibri" pitchFamily="34" charset="0"/>
                <a:ea typeface="Calibri" pitchFamily="34" charset="-122"/>
                <a:cs typeface="Calibri" pitchFamily="34" charset="-120"/>
              </a:rPr>
              <a:t>Das ist der Tag</a:t>
            </a:r>
            <a:endParaRPr lang="en-US" sz="3800" dirty="0"/>
          </a:p>
        </p:txBody>
      </p:sp>
      <p:sp>
        <p:nvSpPr>
          <p:cNvPr id="9" name="Text 7"/>
          <p:cNvSpPr/>
          <p:nvPr/>
        </p:nvSpPr>
        <p:spPr>
          <a:xfrm>
            <a:off x="320040" y="2148840"/>
            <a:ext cx="9326880" cy="3017520"/>
          </a:xfrm>
          <a:prstGeom prst="rect">
            <a:avLst/>
          </a:prstGeom>
          <a:noFill/>
          <a:ln/>
        </p:spPr>
        <p:txBody>
          <a:bodyPr wrap="square" rtlCol="0" anchor="t"/>
          <a:lstStyle/>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Nicht perfekt — echt</a:t>
            </a:r>
            <a:endParaRPr lang="en-US" sz="2400" dirty="0"/>
          </a:p>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Dein Nein muss sich nicht gut anfuehlen</a:t>
            </a:r>
            <a:endParaRPr lang="en-US" sz="2400" dirty="0"/>
          </a:p>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Es muss aufrichtig sein</a:t>
            </a:r>
            <a:endParaRPr lang="en-US" sz="2400" dirty="0"/>
          </a:p>
        </p:txBody>
      </p:sp>
      <p:sp>
        <p:nvSpPr>
          <p:cNvPr id="10" name="Text 8"/>
          <p:cNvSpPr/>
          <p:nvPr/>
        </p:nvSpPr>
        <p:spPr>
          <a:xfrm>
            <a:off x="320040" y="6492240"/>
            <a:ext cx="4572000" cy="274320"/>
          </a:xfrm>
          <a:prstGeom prst="rect">
            <a:avLst/>
          </a:prstGeom>
          <a:noFill/>
          <a:ln/>
        </p:spPr>
        <p:txBody>
          <a:bodyPr wrap="square" rtlCol="0" anchor="ctr"/>
          <a:lstStyle/>
          <a:p>
            <a:pPr indent="0" marL="0">
              <a:buNone/>
            </a:pPr>
            <a:r>
              <a:rPr lang="en-US" sz="800" dirty="0">
                <a:solidFill>
                  <a:srgbClr val="BBBBBB"/>
                </a:solidFill>
                <a:latin typeface="Calibri" pitchFamily="34" charset="0"/>
                <a:ea typeface="Calibri" pitchFamily="34" charset="-122"/>
                <a:cs typeface="Calibri" pitchFamily="34" charset="-120"/>
              </a:rPr>
              <a:t>Nein aus Ueberzeugung</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4F4"/>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A61C1C"/>
          </a:solidFill>
          <a:ln w="12700">
            <a:solidFill>
              <a:srgbClr val="A61C1C"/>
            </a:solidFill>
            <a:prstDash val="solid"/>
          </a:ln>
        </p:spPr>
      </p:sp>
      <p:sp>
        <p:nvSpPr>
          <p:cNvPr id="3" name="Shape 1"/>
          <p:cNvSpPr/>
          <p:nvPr/>
        </p:nvSpPr>
        <p:spPr>
          <a:xfrm>
            <a:off x="9692640" y="5349240"/>
            <a:ext cx="2496312" cy="1508760"/>
          </a:xfrm>
          <a:prstGeom prst="rect">
            <a:avLst/>
          </a:prstGeom>
          <a:solidFill>
            <a:srgbClr val="1E1E1E"/>
          </a:solidFill>
          <a:ln w="12700">
            <a:solidFill>
              <a:srgbClr val="1E1E1E"/>
            </a:solidFill>
            <a:prstDash val="solid"/>
          </a:ln>
        </p:spPr>
      </p:sp>
      <p:sp>
        <p:nvSpPr>
          <p:cNvPr id="4" name="Shape 2"/>
          <p:cNvSpPr/>
          <p:nvPr/>
        </p:nvSpPr>
        <p:spPr>
          <a:xfrm>
            <a:off x="10149840" y="5440680"/>
            <a:ext cx="1581912" cy="1325880"/>
          </a:xfrm>
          <a:prstGeom prst="ellipse">
            <a:avLst/>
          </a:prstGeom>
          <a:solidFill>
            <a:srgbClr val="2A2A2A"/>
          </a:solidFill>
          <a:ln w="12700">
            <a:solidFill>
              <a:srgbClr val="D94040"/>
            </a:solidFill>
            <a:prstDash val="solid"/>
          </a:ln>
        </p:spPr>
      </p:sp>
      <p:sp>
        <p:nvSpPr>
          <p:cNvPr id="5" name="Text 3"/>
          <p:cNvSpPr/>
          <p:nvPr/>
        </p:nvSpPr>
        <p:spPr>
          <a:xfrm>
            <a:off x="320040" y="164592"/>
            <a:ext cx="4572000" cy="347472"/>
          </a:xfrm>
          <a:prstGeom prst="rect">
            <a:avLst/>
          </a:prstGeom>
          <a:noFill/>
          <a:ln/>
        </p:spPr>
        <p:txBody>
          <a:bodyPr wrap="square" rtlCol="0" anchor="ctr"/>
          <a:lstStyle/>
          <a:p>
            <a:pPr indent="0" marL="0">
              <a:buNone/>
            </a:pPr>
            <a:r>
              <a:rPr lang="en-US" sz="1200" b="1" dirty="0">
                <a:solidFill>
                  <a:srgbClr val="A61C1C"/>
                </a:solidFill>
                <a:latin typeface="Calibri" pitchFamily="34" charset="0"/>
                <a:ea typeface="Calibri" pitchFamily="34" charset="-122"/>
                <a:cs typeface="Calibri" pitchFamily="34" charset="-120"/>
              </a:rPr>
              <a:t>Modul 5 — Tag 5: Das erste echte Nein</a:t>
            </a:r>
            <a:endParaRPr lang="en-US" sz="1200" dirty="0"/>
          </a:p>
        </p:txBody>
      </p:sp>
      <p:sp>
        <p:nvSpPr>
          <p:cNvPr id="6" name="Text 4"/>
          <p:cNvSpPr/>
          <p:nvPr/>
        </p:nvSpPr>
        <p:spPr>
          <a:xfrm>
            <a:off x="320040" y="475488"/>
            <a:ext cx="8686800" cy="320040"/>
          </a:xfrm>
          <a:prstGeom prst="rect">
            <a:avLst/>
          </a:prstGeom>
          <a:noFill/>
          <a:ln/>
        </p:spPr>
        <p:txBody>
          <a:bodyPr wrap="square" rtlCol="0" anchor="ctr"/>
          <a:lstStyle/>
          <a:p>
            <a:pPr indent="0" marL="0">
              <a:buNone/>
            </a:pPr>
            <a:r>
              <a:rPr lang="en-US" sz="1100" i="1" dirty="0">
                <a:solidFill>
                  <a:srgbClr val="888888"/>
                </a:solidFill>
                <a:latin typeface="Calibri" pitchFamily="34" charset="0"/>
                <a:ea typeface="Calibri" pitchFamily="34" charset="-122"/>
                <a:cs typeface="Calibri" pitchFamily="34" charset="-120"/>
              </a:rPr>
              <a:t>Tag 5: Das erste echte Nein</a:t>
            </a:r>
            <a:endParaRPr lang="en-US" sz="1100" dirty="0"/>
          </a:p>
        </p:txBody>
      </p:sp>
      <p:sp>
        <p:nvSpPr>
          <p:cNvPr id="7" name="Shape 5"/>
          <p:cNvSpPr/>
          <p:nvPr/>
        </p:nvSpPr>
        <p:spPr>
          <a:xfrm>
            <a:off x="320040" y="841248"/>
            <a:ext cx="8961120" cy="0"/>
          </a:xfrm>
          <a:prstGeom prst="line">
            <a:avLst/>
          </a:prstGeom>
          <a:noFill/>
          <a:ln w="12700">
            <a:solidFill>
              <a:srgbClr val="CCCCCC"/>
            </a:solidFill>
            <a:prstDash val="solid"/>
          </a:ln>
        </p:spPr>
      </p:sp>
      <p:sp>
        <p:nvSpPr>
          <p:cNvPr id="8" name="Text 6"/>
          <p:cNvSpPr/>
          <p:nvPr/>
        </p:nvSpPr>
        <p:spPr>
          <a:xfrm>
            <a:off x="320040" y="960120"/>
            <a:ext cx="9144000" cy="1005840"/>
          </a:xfrm>
          <a:prstGeom prst="rect">
            <a:avLst/>
          </a:prstGeom>
          <a:noFill/>
          <a:ln/>
        </p:spPr>
        <p:txBody>
          <a:bodyPr wrap="square" rtlCol="0" anchor="ctr"/>
          <a:lstStyle/>
          <a:p>
            <a:pPr indent="0" marL="0">
              <a:buNone/>
            </a:pPr>
            <a:r>
              <a:rPr lang="en-US" sz="3800" b="1" dirty="0">
                <a:solidFill>
                  <a:srgbClr val="1E1E1E"/>
                </a:solidFill>
                <a:latin typeface="Calibri" pitchFamily="34" charset="0"/>
                <a:ea typeface="Calibri" pitchFamily="34" charset="-122"/>
                <a:cs typeface="Calibri" pitchFamily="34" charset="-120"/>
              </a:rPr>
              <a:t>Was ein echtes Nein ist</a:t>
            </a:r>
            <a:endParaRPr lang="en-US" sz="3800" dirty="0"/>
          </a:p>
        </p:txBody>
      </p:sp>
      <p:sp>
        <p:nvSpPr>
          <p:cNvPr id="9" name="Text 7"/>
          <p:cNvSpPr/>
          <p:nvPr/>
        </p:nvSpPr>
        <p:spPr>
          <a:xfrm>
            <a:off x="320040" y="2148840"/>
            <a:ext cx="9326880" cy="3017520"/>
          </a:xfrm>
          <a:prstGeom prst="rect">
            <a:avLst/>
          </a:prstGeom>
          <a:noFill/>
          <a:ln/>
        </p:spPr>
        <p:txBody>
          <a:bodyPr wrap="square" rtlCol="0" anchor="t"/>
          <a:lstStyle/>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Aus Ueberzeugung — nicht aus Erschoepfung</a:t>
            </a:r>
            <a:endParaRPr lang="en-US" sz="2400" dirty="0"/>
          </a:p>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Ruhig — nicht aggressiv</a:t>
            </a:r>
            <a:endParaRPr lang="en-US" sz="2400" dirty="0"/>
          </a:p>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Klar — ohne lange Erklaerung</a:t>
            </a:r>
            <a:endParaRPr lang="en-US" sz="2400" dirty="0"/>
          </a:p>
        </p:txBody>
      </p:sp>
      <p:sp>
        <p:nvSpPr>
          <p:cNvPr id="10" name="Text 8"/>
          <p:cNvSpPr/>
          <p:nvPr/>
        </p:nvSpPr>
        <p:spPr>
          <a:xfrm>
            <a:off x="320040" y="6492240"/>
            <a:ext cx="4572000" cy="274320"/>
          </a:xfrm>
          <a:prstGeom prst="rect">
            <a:avLst/>
          </a:prstGeom>
          <a:noFill/>
          <a:ln/>
        </p:spPr>
        <p:txBody>
          <a:bodyPr wrap="square" rtlCol="0" anchor="ctr"/>
          <a:lstStyle/>
          <a:p>
            <a:pPr indent="0" marL="0">
              <a:buNone/>
            </a:pPr>
            <a:r>
              <a:rPr lang="en-US" sz="800" dirty="0">
                <a:solidFill>
                  <a:srgbClr val="BBBBBB"/>
                </a:solidFill>
                <a:latin typeface="Calibri" pitchFamily="34" charset="0"/>
                <a:ea typeface="Calibri" pitchFamily="34" charset="-122"/>
                <a:cs typeface="Calibri" pitchFamily="34" charset="-120"/>
              </a:rPr>
              <a:t>Nein aus Ueberzeugung</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4F4"/>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A61C1C"/>
          </a:solidFill>
          <a:ln w="12700">
            <a:solidFill>
              <a:srgbClr val="A61C1C"/>
            </a:solidFill>
            <a:prstDash val="solid"/>
          </a:ln>
        </p:spPr>
      </p:sp>
      <p:sp>
        <p:nvSpPr>
          <p:cNvPr id="3" name="Shape 1"/>
          <p:cNvSpPr/>
          <p:nvPr/>
        </p:nvSpPr>
        <p:spPr>
          <a:xfrm>
            <a:off x="9692640" y="5349240"/>
            <a:ext cx="2496312" cy="1508760"/>
          </a:xfrm>
          <a:prstGeom prst="rect">
            <a:avLst/>
          </a:prstGeom>
          <a:solidFill>
            <a:srgbClr val="1E1E1E"/>
          </a:solidFill>
          <a:ln w="12700">
            <a:solidFill>
              <a:srgbClr val="1E1E1E"/>
            </a:solidFill>
            <a:prstDash val="solid"/>
          </a:ln>
        </p:spPr>
      </p:sp>
      <p:sp>
        <p:nvSpPr>
          <p:cNvPr id="4" name="Shape 2"/>
          <p:cNvSpPr/>
          <p:nvPr/>
        </p:nvSpPr>
        <p:spPr>
          <a:xfrm>
            <a:off x="10149840" y="5440680"/>
            <a:ext cx="1581912" cy="1325880"/>
          </a:xfrm>
          <a:prstGeom prst="ellipse">
            <a:avLst/>
          </a:prstGeom>
          <a:solidFill>
            <a:srgbClr val="2A2A2A"/>
          </a:solidFill>
          <a:ln w="12700">
            <a:solidFill>
              <a:srgbClr val="D94040"/>
            </a:solidFill>
            <a:prstDash val="solid"/>
          </a:ln>
        </p:spPr>
      </p:sp>
      <p:sp>
        <p:nvSpPr>
          <p:cNvPr id="5" name="Text 3"/>
          <p:cNvSpPr/>
          <p:nvPr/>
        </p:nvSpPr>
        <p:spPr>
          <a:xfrm>
            <a:off x="320040" y="164592"/>
            <a:ext cx="4572000" cy="347472"/>
          </a:xfrm>
          <a:prstGeom prst="rect">
            <a:avLst/>
          </a:prstGeom>
          <a:noFill/>
          <a:ln/>
        </p:spPr>
        <p:txBody>
          <a:bodyPr wrap="square" rtlCol="0" anchor="ctr"/>
          <a:lstStyle/>
          <a:p>
            <a:pPr indent="0" marL="0">
              <a:buNone/>
            </a:pPr>
            <a:r>
              <a:rPr lang="en-US" sz="1200" b="1" dirty="0">
                <a:solidFill>
                  <a:srgbClr val="A61C1C"/>
                </a:solidFill>
                <a:latin typeface="Calibri" pitchFamily="34" charset="0"/>
                <a:ea typeface="Calibri" pitchFamily="34" charset="-122"/>
                <a:cs typeface="Calibri" pitchFamily="34" charset="-120"/>
              </a:rPr>
              <a:t>Modul 5 — Tag 5: Das erste echte Nein</a:t>
            </a:r>
            <a:endParaRPr lang="en-US" sz="1200" dirty="0"/>
          </a:p>
        </p:txBody>
      </p:sp>
      <p:sp>
        <p:nvSpPr>
          <p:cNvPr id="6" name="Text 4"/>
          <p:cNvSpPr/>
          <p:nvPr/>
        </p:nvSpPr>
        <p:spPr>
          <a:xfrm>
            <a:off x="320040" y="475488"/>
            <a:ext cx="8686800" cy="320040"/>
          </a:xfrm>
          <a:prstGeom prst="rect">
            <a:avLst/>
          </a:prstGeom>
          <a:noFill/>
          <a:ln/>
        </p:spPr>
        <p:txBody>
          <a:bodyPr wrap="square" rtlCol="0" anchor="ctr"/>
          <a:lstStyle/>
          <a:p>
            <a:pPr indent="0" marL="0">
              <a:buNone/>
            </a:pPr>
            <a:r>
              <a:rPr lang="en-US" sz="1100" i="1" dirty="0">
                <a:solidFill>
                  <a:srgbClr val="888888"/>
                </a:solidFill>
                <a:latin typeface="Calibri" pitchFamily="34" charset="0"/>
                <a:ea typeface="Calibri" pitchFamily="34" charset="-122"/>
                <a:cs typeface="Calibri" pitchFamily="34" charset="-120"/>
              </a:rPr>
              <a:t>Tag 5: Das erste echte Nein</a:t>
            </a:r>
            <a:endParaRPr lang="en-US" sz="1100" dirty="0"/>
          </a:p>
        </p:txBody>
      </p:sp>
      <p:sp>
        <p:nvSpPr>
          <p:cNvPr id="7" name="Shape 5"/>
          <p:cNvSpPr/>
          <p:nvPr/>
        </p:nvSpPr>
        <p:spPr>
          <a:xfrm>
            <a:off x="320040" y="841248"/>
            <a:ext cx="8961120" cy="0"/>
          </a:xfrm>
          <a:prstGeom prst="line">
            <a:avLst/>
          </a:prstGeom>
          <a:noFill/>
          <a:ln w="12700">
            <a:solidFill>
              <a:srgbClr val="CCCCCC"/>
            </a:solidFill>
            <a:prstDash val="solid"/>
          </a:ln>
        </p:spPr>
      </p:sp>
      <p:sp>
        <p:nvSpPr>
          <p:cNvPr id="8" name="Text 6"/>
          <p:cNvSpPr/>
          <p:nvPr/>
        </p:nvSpPr>
        <p:spPr>
          <a:xfrm>
            <a:off x="320040" y="960120"/>
            <a:ext cx="9144000" cy="1005840"/>
          </a:xfrm>
          <a:prstGeom prst="rect">
            <a:avLst/>
          </a:prstGeom>
          <a:noFill/>
          <a:ln/>
        </p:spPr>
        <p:txBody>
          <a:bodyPr wrap="square" rtlCol="0" anchor="ctr"/>
          <a:lstStyle/>
          <a:p>
            <a:pPr indent="0" marL="0">
              <a:buNone/>
            </a:pPr>
            <a:r>
              <a:rPr lang="en-US" sz="3800" b="1" dirty="0">
                <a:solidFill>
                  <a:srgbClr val="1E1E1E"/>
                </a:solidFill>
                <a:latin typeface="Calibri" pitchFamily="34" charset="0"/>
                <a:ea typeface="Calibri" pitchFamily="34" charset="-122"/>
                <a:cs typeface="Calibri" pitchFamily="34" charset="-120"/>
              </a:rPr>
              <a:t>Dein Nein in Worten</a:t>
            </a:r>
            <a:endParaRPr lang="en-US" sz="3800" dirty="0"/>
          </a:p>
        </p:txBody>
      </p:sp>
      <p:sp>
        <p:nvSpPr>
          <p:cNvPr id="9" name="Text 7"/>
          <p:cNvSpPr/>
          <p:nvPr/>
        </p:nvSpPr>
        <p:spPr>
          <a:xfrm>
            <a:off x="320040" y="2148840"/>
            <a:ext cx="9326880" cy="3017520"/>
          </a:xfrm>
          <a:prstGeom prst="rect">
            <a:avLst/>
          </a:prstGeom>
          <a:noFill/>
          <a:ln/>
        </p:spPr>
        <p:txBody>
          <a:bodyPr wrap="square" rtlCol="0" anchor="t"/>
          <a:lstStyle/>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Drei einfache Formulierungen</a:t>
            </a:r>
            <a:endParaRPr lang="en-US" sz="2400" dirty="0"/>
          </a:p>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Waehle, was sich fuer dich richtig anfuehlt</a:t>
            </a:r>
            <a:endParaRPr lang="en-US" sz="2400" dirty="0"/>
          </a:p>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Du kannst es anpassen</a:t>
            </a:r>
            <a:endParaRPr lang="en-US" sz="2400" dirty="0"/>
          </a:p>
        </p:txBody>
      </p:sp>
      <p:sp>
        <p:nvSpPr>
          <p:cNvPr id="10" name="Text 8"/>
          <p:cNvSpPr/>
          <p:nvPr/>
        </p:nvSpPr>
        <p:spPr>
          <a:xfrm>
            <a:off x="320040" y="6492240"/>
            <a:ext cx="4572000" cy="274320"/>
          </a:xfrm>
          <a:prstGeom prst="rect">
            <a:avLst/>
          </a:prstGeom>
          <a:noFill/>
          <a:ln/>
        </p:spPr>
        <p:txBody>
          <a:bodyPr wrap="square" rtlCol="0" anchor="ctr"/>
          <a:lstStyle/>
          <a:p>
            <a:pPr indent="0" marL="0">
              <a:buNone/>
            </a:pPr>
            <a:r>
              <a:rPr lang="en-US" sz="800" dirty="0">
                <a:solidFill>
                  <a:srgbClr val="BBBBBB"/>
                </a:solidFill>
                <a:latin typeface="Calibri" pitchFamily="34" charset="0"/>
                <a:ea typeface="Calibri" pitchFamily="34" charset="-122"/>
                <a:cs typeface="Calibri" pitchFamily="34" charset="-120"/>
              </a:rPr>
              <a:t>Nein aus Ueberzeugung</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4F4"/>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A61C1C"/>
          </a:solidFill>
          <a:ln w="12700">
            <a:solidFill>
              <a:srgbClr val="A61C1C"/>
            </a:solidFill>
            <a:prstDash val="solid"/>
          </a:ln>
        </p:spPr>
      </p:sp>
      <p:sp>
        <p:nvSpPr>
          <p:cNvPr id="3" name="Shape 1"/>
          <p:cNvSpPr/>
          <p:nvPr/>
        </p:nvSpPr>
        <p:spPr>
          <a:xfrm>
            <a:off x="9692640" y="5349240"/>
            <a:ext cx="2496312" cy="1508760"/>
          </a:xfrm>
          <a:prstGeom prst="rect">
            <a:avLst/>
          </a:prstGeom>
          <a:solidFill>
            <a:srgbClr val="1E1E1E"/>
          </a:solidFill>
          <a:ln w="12700">
            <a:solidFill>
              <a:srgbClr val="1E1E1E"/>
            </a:solidFill>
            <a:prstDash val="solid"/>
          </a:ln>
        </p:spPr>
      </p:sp>
      <p:sp>
        <p:nvSpPr>
          <p:cNvPr id="4" name="Shape 2"/>
          <p:cNvSpPr/>
          <p:nvPr/>
        </p:nvSpPr>
        <p:spPr>
          <a:xfrm>
            <a:off x="10149840" y="5440680"/>
            <a:ext cx="1581912" cy="1325880"/>
          </a:xfrm>
          <a:prstGeom prst="ellipse">
            <a:avLst/>
          </a:prstGeom>
          <a:solidFill>
            <a:srgbClr val="2A2A2A"/>
          </a:solidFill>
          <a:ln w="12700">
            <a:solidFill>
              <a:srgbClr val="D94040"/>
            </a:solidFill>
            <a:prstDash val="solid"/>
          </a:ln>
        </p:spPr>
      </p:sp>
      <p:sp>
        <p:nvSpPr>
          <p:cNvPr id="5" name="Text 3"/>
          <p:cNvSpPr/>
          <p:nvPr/>
        </p:nvSpPr>
        <p:spPr>
          <a:xfrm>
            <a:off x="320040" y="164592"/>
            <a:ext cx="4572000" cy="347472"/>
          </a:xfrm>
          <a:prstGeom prst="rect">
            <a:avLst/>
          </a:prstGeom>
          <a:noFill/>
          <a:ln/>
        </p:spPr>
        <p:txBody>
          <a:bodyPr wrap="square" rtlCol="0" anchor="ctr"/>
          <a:lstStyle/>
          <a:p>
            <a:pPr indent="0" marL="0">
              <a:buNone/>
            </a:pPr>
            <a:r>
              <a:rPr lang="en-US" sz="1200" b="1" dirty="0">
                <a:solidFill>
                  <a:srgbClr val="A61C1C"/>
                </a:solidFill>
                <a:latin typeface="Calibri" pitchFamily="34" charset="0"/>
                <a:ea typeface="Calibri" pitchFamily="34" charset="-122"/>
                <a:cs typeface="Calibri" pitchFamily="34" charset="-120"/>
              </a:rPr>
              <a:t>Modul 5 — Tag 5: Das erste echte Nein</a:t>
            </a:r>
            <a:endParaRPr lang="en-US" sz="1200" dirty="0"/>
          </a:p>
        </p:txBody>
      </p:sp>
      <p:sp>
        <p:nvSpPr>
          <p:cNvPr id="6" name="Text 4"/>
          <p:cNvSpPr/>
          <p:nvPr/>
        </p:nvSpPr>
        <p:spPr>
          <a:xfrm>
            <a:off x="320040" y="475488"/>
            <a:ext cx="8686800" cy="320040"/>
          </a:xfrm>
          <a:prstGeom prst="rect">
            <a:avLst/>
          </a:prstGeom>
          <a:noFill/>
          <a:ln/>
        </p:spPr>
        <p:txBody>
          <a:bodyPr wrap="square" rtlCol="0" anchor="ctr"/>
          <a:lstStyle/>
          <a:p>
            <a:pPr indent="0" marL="0">
              <a:buNone/>
            </a:pPr>
            <a:r>
              <a:rPr lang="en-US" sz="1100" i="1" dirty="0">
                <a:solidFill>
                  <a:srgbClr val="888888"/>
                </a:solidFill>
                <a:latin typeface="Calibri" pitchFamily="34" charset="0"/>
                <a:ea typeface="Calibri" pitchFamily="34" charset="-122"/>
                <a:cs typeface="Calibri" pitchFamily="34" charset="-120"/>
              </a:rPr>
              <a:t>Tag 5: Das erste echte Nein</a:t>
            </a:r>
            <a:endParaRPr lang="en-US" sz="1100" dirty="0"/>
          </a:p>
        </p:txBody>
      </p:sp>
      <p:sp>
        <p:nvSpPr>
          <p:cNvPr id="7" name="Shape 5"/>
          <p:cNvSpPr/>
          <p:nvPr/>
        </p:nvSpPr>
        <p:spPr>
          <a:xfrm>
            <a:off x="320040" y="841248"/>
            <a:ext cx="8961120" cy="0"/>
          </a:xfrm>
          <a:prstGeom prst="line">
            <a:avLst/>
          </a:prstGeom>
          <a:noFill/>
          <a:ln w="12700">
            <a:solidFill>
              <a:srgbClr val="CCCCCC"/>
            </a:solidFill>
            <a:prstDash val="solid"/>
          </a:ln>
        </p:spPr>
      </p:sp>
      <p:sp>
        <p:nvSpPr>
          <p:cNvPr id="8" name="Text 6"/>
          <p:cNvSpPr/>
          <p:nvPr/>
        </p:nvSpPr>
        <p:spPr>
          <a:xfrm>
            <a:off x="320040" y="960120"/>
            <a:ext cx="9144000" cy="1005840"/>
          </a:xfrm>
          <a:prstGeom prst="rect">
            <a:avLst/>
          </a:prstGeom>
          <a:noFill/>
          <a:ln/>
        </p:spPr>
        <p:txBody>
          <a:bodyPr wrap="square" rtlCol="0" anchor="ctr"/>
          <a:lstStyle/>
          <a:p>
            <a:pPr indent="0" marL="0">
              <a:buNone/>
            </a:pPr>
            <a:r>
              <a:rPr lang="en-US" sz="3800" b="1" dirty="0">
                <a:solidFill>
                  <a:srgbClr val="1E1E1E"/>
                </a:solidFill>
                <a:latin typeface="Calibri" pitchFamily="34" charset="0"/>
                <a:ea typeface="Calibri" pitchFamily="34" charset="-122"/>
                <a:cs typeface="Calibri" pitchFamily="34" charset="-120"/>
              </a:rPr>
              <a:t>Abschluss-Reflexion</a:t>
            </a:r>
            <a:endParaRPr lang="en-US" sz="3800" dirty="0"/>
          </a:p>
        </p:txBody>
      </p:sp>
      <p:sp>
        <p:nvSpPr>
          <p:cNvPr id="9" name="Text 7"/>
          <p:cNvSpPr/>
          <p:nvPr/>
        </p:nvSpPr>
        <p:spPr>
          <a:xfrm>
            <a:off x="320040" y="2148840"/>
            <a:ext cx="9326880" cy="3017520"/>
          </a:xfrm>
          <a:prstGeom prst="rect">
            <a:avLst/>
          </a:prstGeom>
          <a:noFill/>
          <a:ln/>
        </p:spPr>
        <p:txBody>
          <a:bodyPr wrap="square" rtlCol="0" anchor="t"/>
          <a:lstStyle/>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Was hast du in diesen 5 Tagen gelernt?</a:t>
            </a:r>
            <a:endParaRPr lang="en-US" sz="2400" dirty="0"/>
          </a:p>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Was hat sich veraendert?</a:t>
            </a:r>
            <a:endParaRPr lang="en-US" sz="2400" dirty="0"/>
          </a:p>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Was nimmst du mit?</a:t>
            </a:r>
            <a:endParaRPr lang="en-US" sz="2400" dirty="0"/>
          </a:p>
        </p:txBody>
      </p:sp>
      <p:sp>
        <p:nvSpPr>
          <p:cNvPr id="10" name="Text 8"/>
          <p:cNvSpPr/>
          <p:nvPr/>
        </p:nvSpPr>
        <p:spPr>
          <a:xfrm>
            <a:off x="320040" y="6492240"/>
            <a:ext cx="4572000" cy="274320"/>
          </a:xfrm>
          <a:prstGeom prst="rect">
            <a:avLst/>
          </a:prstGeom>
          <a:noFill/>
          <a:ln/>
        </p:spPr>
        <p:txBody>
          <a:bodyPr wrap="square" rtlCol="0" anchor="ctr"/>
          <a:lstStyle/>
          <a:p>
            <a:pPr indent="0" marL="0">
              <a:buNone/>
            </a:pPr>
            <a:r>
              <a:rPr lang="en-US" sz="800" dirty="0">
                <a:solidFill>
                  <a:srgbClr val="BBBBBB"/>
                </a:solidFill>
                <a:latin typeface="Calibri" pitchFamily="34" charset="0"/>
                <a:ea typeface="Calibri" pitchFamily="34" charset="-122"/>
                <a:cs typeface="Calibri" pitchFamily="34" charset="-120"/>
              </a:rPr>
              <a:t>Nein aus Ueberzeugung</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4F4"/>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A61C1C"/>
          </a:solidFill>
          <a:ln w="12700">
            <a:solidFill>
              <a:srgbClr val="A61C1C"/>
            </a:solidFill>
            <a:prstDash val="solid"/>
          </a:ln>
        </p:spPr>
      </p:sp>
      <p:sp>
        <p:nvSpPr>
          <p:cNvPr id="3" name="Shape 1"/>
          <p:cNvSpPr/>
          <p:nvPr/>
        </p:nvSpPr>
        <p:spPr>
          <a:xfrm>
            <a:off x="9692640" y="5349240"/>
            <a:ext cx="2496312" cy="1508760"/>
          </a:xfrm>
          <a:prstGeom prst="rect">
            <a:avLst/>
          </a:prstGeom>
          <a:solidFill>
            <a:srgbClr val="1E1E1E"/>
          </a:solidFill>
          <a:ln w="12700">
            <a:solidFill>
              <a:srgbClr val="1E1E1E"/>
            </a:solidFill>
            <a:prstDash val="solid"/>
          </a:ln>
        </p:spPr>
      </p:sp>
      <p:sp>
        <p:nvSpPr>
          <p:cNvPr id="4" name="Shape 2"/>
          <p:cNvSpPr/>
          <p:nvPr/>
        </p:nvSpPr>
        <p:spPr>
          <a:xfrm>
            <a:off x="10149840" y="5440680"/>
            <a:ext cx="1581912" cy="1325880"/>
          </a:xfrm>
          <a:prstGeom prst="ellipse">
            <a:avLst/>
          </a:prstGeom>
          <a:solidFill>
            <a:srgbClr val="2A2A2A"/>
          </a:solidFill>
          <a:ln w="12700">
            <a:solidFill>
              <a:srgbClr val="D94040"/>
            </a:solidFill>
            <a:prstDash val="solid"/>
          </a:ln>
        </p:spPr>
      </p:sp>
      <p:sp>
        <p:nvSpPr>
          <p:cNvPr id="5" name="Text 3"/>
          <p:cNvSpPr/>
          <p:nvPr/>
        </p:nvSpPr>
        <p:spPr>
          <a:xfrm>
            <a:off x="320040" y="164592"/>
            <a:ext cx="4572000" cy="347472"/>
          </a:xfrm>
          <a:prstGeom prst="rect">
            <a:avLst/>
          </a:prstGeom>
          <a:noFill/>
          <a:ln/>
        </p:spPr>
        <p:txBody>
          <a:bodyPr wrap="square" rtlCol="0" anchor="ctr"/>
          <a:lstStyle/>
          <a:p>
            <a:pPr indent="0" marL="0">
              <a:buNone/>
            </a:pPr>
            <a:r>
              <a:rPr lang="en-US" sz="1200" b="1" dirty="0">
                <a:solidFill>
                  <a:srgbClr val="A61C1C"/>
                </a:solidFill>
                <a:latin typeface="Calibri" pitchFamily="34" charset="0"/>
                <a:ea typeface="Calibri" pitchFamily="34" charset="-122"/>
                <a:cs typeface="Calibri" pitchFamily="34" charset="-120"/>
              </a:rPr>
              <a:t>Modul 5 — Tag 5: Das erste echte Nein</a:t>
            </a:r>
            <a:endParaRPr lang="en-US" sz="1200" dirty="0"/>
          </a:p>
        </p:txBody>
      </p:sp>
      <p:sp>
        <p:nvSpPr>
          <p:cNvPr id="6" name="Text 4"/>
          <p:cNvSpPr/>
          <p:nvPr/>
        </p:nvSpPr>
        <p:spPr>
          <a:xfrm>
            <a:off x="320040" y="475488"/>
            <a:ext cx="8686800" cy="320040"/>
          </a:xfrm>
          <a:prstGeom prst="rect">
            <a:avLst/>
          </a:prstGeom>
          <a:noFill/>
          <a:ln/>
        </p:spPr>
        <p:txBody>
          <a:bodyPr wrap="square" rtlCol="0" anchor="ctr"/>
          <a:lstStyle/>
          <a:p>
            <a:pPr indent="0" marL="0">
              <a:buNone/>
            </a:pPr>
            <a:r>
              <a:rPr lang="en-US" sz="1100" i="1" dirty="0">
                <a:solidFill>
                  <a:srgbClr val="888888"/>
                </a:solidFill>
                <a:latin typeface="Calibri" pitchFamily="34" charset="0"/>
                <a:ea typeface="Calibri" pitchFamily="34" charset="-122"/>
                <a:cs typeface="Calibri" pitchFamily="34" charset="-120"/>
              </a:rPr>
              <a:t>Tag 5: Das erste echte Nein</a:t>
            </a:r>
            <a:endParaRPr lang="en-US" sz="1100" dirty="0"/>
          </a:p>
        </p:txBody>
      </p:sp>
      <p:sp>
        <p:nvSpPr>
          <p:cNvPr id="7" name="Shape 5"/>
          <p:cNvSpPr/>
          <p:nvPr/>
        </p:nvSpPr>
        <p:spPr>
          <a:xfrm>
            <a:off x="320040" y="841248"/>
            <a:ext cx="8961120" cy="0"/>
          </a:xfrm>
          <a:prstGeom prst="line">
            <a:avLst/>
          </a:prstGeom>
          <a:noFill/>
          <a:ln w="12700">
            <a:solidFill>
              <a:srgbClr val="CCCCCC"/>
            </a:solidFill>
            <a:prstDash val="solid"/>
          </a:ln>
        </p:spPr>
      </p:sp>
      <p:sp>
        <p:nvSpPr>
          <p:cNvPr id="8" name="Text 6"/>
          <p:cNvSpPr/>
          <p:nvPr/>
        </p:nvSpPr>
        <p:spPr>
          <a:xfrm>
            <a:off x="320040" y="960120"/>
            <a:ext cx="9144000" cy="1005840"/>
          </a:xfrm>
          <a:prstGeom prst="rect">
            <a:avLst/>
          </a:prstGeom>
          <a:noFill/>
          <a:ln/>
        </p:spPr>
        <p:txBody>
          <a:bodyPr wrap="square" rtlCol="0" anchor="ctr"/>
          <a:lstStyle/>
          <a:p>
            <a:pPr indent="0" marL="0">
              <a:buNone/>
            </a:pPr>
            <a:r>
              <a:rPr lang="en-US" sz="3800" b="1" dirty="0">
                <a:solidFill>
                  <a:srgbClr val="1E1E1E"/>
                </a:solidFill>
                <a:latin typeface="Calibri" pitchFamily="34" charset="0"/>
                <a:ea typeface="Calibri" pitchFamily="34" charset="-122"/>
                <a:cs typeface="Calibri" pitchFamily="34" charset="-120"/>
              </a:rPr>
              <a:t>Was jetzt kommt</a:t>
            </a:r>
            <a:endParaRPr lang="en-US" sz="3800" dirty="0"/>
          </a:p>
        </p:txBody>
      </p:sp>
      <p:sp>
        <p:nvSpPr>
          <p:cNvPr id="9" name="Text 7"/>
          <p:cNvSpPr/>
          <p:nvPr/>
        </p:nvSpPr>
        <p:spPr>
          <a:xfrm>
            <a:off x="320040" y="2148840"/>
            <a:ext cx="9326880" cy="3017520"/>
          </a:xfrm>
          <a:prstGeom prst="rect">
            <a:avLst/>
          </a:prstGeom>
          <a:noFill/>
          <a:ln/>
        </p:spPr>
        <p:txBody>
          <a:bodyPr wrap="square" rtlCol="0" anchor="t"/>
          <a:lstStyle/>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Bonus-Tag: Integration im Alltag</a:t>
            </a:r>
            <a:endParaRPr lang="en-US" sz="2400" dirty="0"/>
          </a:p>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Der naechste Schritt, wenn du tiefer gehen willst</a:t>
            </a:r>
            <a:endParaRPr lang="en-US" sz="2400" dirty="0"/>
          </a:p>
        </p:txBody>
      </p:sp>
      <p:sp>
        <p:nvSpPr>
          <p:cNvPr id="10" name="Text 8"/>
          <p:cNvSpPr/>
          <p:nvPr/>
        </p:nvSpPr>
        <p:spPr>
          <a:xfrm>
            <a:off x="320040" y="6492240"/>
            <a:ext cx="4572000" cy="274320"/>
          </a:xfrm>
          <a:prstGeom prst="rect">
            <a:avLst/>
          </a:prstGeom>
          <a:noFill/>
          <a:ln/>
        </p:spPr>
        <p:txBody>
          <a:bodyPr wrap="square" rtlCol="0" anchor="ctr"/>
          <a:lstStyle/>
          <a:p>
            <a:pPr indent="0" marL="0">
              <a:buNone/>
            </a:pPr>
            <a:r>
              <a:rPr lang="en-US" sz="800" dirty="0">
                <a:solidFill>
                  <a:srgbClr val="BBBBBB"/>
                </a:solidFill>
                <a:latin typeface="Calibri" pitchFamily="34" charset="0"/>
                <a:ea typeface="Calibri" pitchFamily="34" charset="-122"/>
                <a:cs typeface="Calibri" pitchFamily="34" charset="-120"/>
              </a:rPr>
              <a:t>Nein aus Ueberzeugung</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Nein aus Ueberzeugung — Tag 5: Das erste echte Nein</dc:title>
  <dc:subject>PptxGenJS Presentation</dc:subject>
  <dc:creator>Andreas Stock</dc:creator>
  <cp:lastModifiedBy>Andreas Stock</cp:lastModifiedBy>
  <cp:revision>1</cp:revision>
  <dcterms:created xsi:type="dcterms:W3CDTF">2026-05-22T18:44:31Z</dcterms:created>
  <dcterms:modified xsi:type="dcterms:W3CDTF">2026-05-22T18:44:31Z</dcterms:modified>
</cp:coreProperties>
</file>